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12D6D-E2C9-E780-0D23-DCA7822E7407}" v="93" dt="2026-02-10T19:23:00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DCF019-E7DA-41C5-A9C6-46E4818DE8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972203-D8DE-47CF-8ECC-EA5930E3B6BC}">
      <dgm:prSet/>
      <dgm:spPr/>
      <dgm:t>
        <a:bodyPr/>
        <a:lstStyle/>
        <a:p>
          <a:r>
            <a:rPr lang="en-US"/>
            <a:t>ESTRUTURA MODULAR:</a:t>
          </a:r>
        </a:p>
      </dgm:t>
    </dgm:pt>
    <dgm:pt modelId="{6D0144B1-667C-4790-BCA3-1FF58C6DF684}" type="parTrans" cxnId="{AE4B547F-433E-4FD4-9758-7B8414E088E0}">
      <dgm:prSet/>
      <dgm:spPr/>
      <dgm:t>
        <a:bodyPr/>
        <a:lstStyle/>
        <a:p>
          <a:endParaRPr lang="en-US"/>
        </a:p>
      </dgm:t>
    </dgm:pt>
    <dgm:pt modelId="{B80DE8DF-1EAF-4BC8-BB5B-8EDF9D09B184}" type="sibTrans" cxnId="{AE4B547F-433E-4FD4-9758-7B8414E088E0}">
      <dgm:prSet/>
      <dgm:spPr/>
      <dgm:t>
        <a:bodyPr/>
        <a:lstStyle/>
        <a:p>
          <a:endParaRPr lang="en-US"/>
        </a:p>
      </dgm:t>
    </dgm:pt>
    <dgm:pt modelId="{0BED1C96-CB09-4017-98B9-05884326FACD}">
      <dgm:prSet/>
      <dgm:spPr/>
      <dgm:t>
        <a:bodyPr/>
        <a:lstStyle/>
        <a:p>
          <a:r>
            <a:rPr lang="en-US"/>
            <a:t>1. Rede (Ofensiva): Port Scanner, DoS (SYN/UDP).</a:t>
          </a:r>
        </a:p>
      </dgm:t>
    </dgm:pt>
    <dgm:pt modelId="{6A5D1501-CC03-4488-AC48-215E3E7BAE73}" type="parTrans" cxnId="{BC06384D-1DA4-4D29-B085-B5E964680DF3}">
      <dgm:prSet/>
      <dgm:spPr/>
      <dgm:t>
        <a:bodyPr/>
        <a:lstStyle/>
        <a:p>
          <a:endParaRPr lang="en-US"/>
        </a:p>
      </dgm:t>
    </dgm:pt>
    <dgm:pt modelId="{CC8362F6-1CF4-4164-ADDB-220ECB583783}" type="sibTrans" cxnId="{BC06384D-1DA4-4D29-B085-B5E964680DF3}">
      <dgm:prSet/>
      <dgm:spPr/>
      <dgm:t>
        <a:bodyPr/>
        <a:lstStyle/>
        <a:p>
          <a:endParaRPr lang="en-US"/>
        </a:p>
      </dgm:t>
    </dgm:pt>
    <dgm:pt modelId="{7C30C2CA-C04A-4B0B-9C79-D3F88E4D5DC6}">
      <dgm:prSet/>
      <dgm:spPr/>
      <dgm:t>
        <a:bodyPr/>
        <a:lstStyle/>
        <a:p>
          <a:r>
            <a:rPr lang="en-US"/>
            <a:t>2. Defesa (Ocultação): Port Knocking.</a:t>
          </a:r>
        </a:p>
      </dgm:t>
    </dgm:pt>
    <dgm:pt modelId="{56627D2E-174E-48C1-A972-37656E54CC2B}" type="parTrans" cxnId="{68F7385B-133C-497D-81D3-C89ECA6E6427}">
      <dgm:prSet/>
      <dgm:spPr/>
      <dgm:t>
        <a:bodyPr/>
        <a:lstStyle/>
        <a:p>
          <a:endParaRPr lang="en-US"/>
        </a:p>
      </dgm:t>
    </dgm:pt>
    <dgm:pt modelId="{E5A0F207-B090-48E8-B80B-581AE8F73FC9}" type="sibTrans" cxnId="{68F7385B-133C-497D-81D3-C89ECA6E6427}">
      <dgm:prSet/>
      <dgm:spPr/>
      <dgm:t>
        <a:bodyPr/>
        <a:lstStyle/>
        <a:p>
          <a:endParaRPr lang="en-US"/>
        </a:p>
      </dgm:t>
    </dgm:pt>
    <dgm:pt modelId="{6B9692B2-514C-4024-BD6C-F6236854EE05}">
      <dgm:prSet/>
      <dgm:spPr/>
      <dgm:t>
        <a:bodyPr/>
        <a:lstStyle/>
        <a:p>
          <a:r>
            <a:rPr lang="en-US"/>
            <a:t>3. Segurança (Dados): Password Manager, Chat P2P.</a:t>
          </a:r>
        </a:p>
      </dgm:t>
    </dgm:pt>
    <dgm:pt modelId="{F9BDC0FF-AA72-4220-8C17-0CAB85A7CE49}" type="parTrans" cxnId="{5ACB4DC4-8A33-47BD-8D1A-60D696C856ED}">
      <dgm:prSet/>
      <dgm:spPr/>
      <dgm:t>
        <a:bodyPr/>
        <a:lstStyle/>
        <a:p>
          <a:endParaRPr lang="en-US"/>
        </a:p>
      </dgm:t>
    </dgm:pt>
    <dgm:pt modelId="{89876195-AADA-401B-A7F0-A623522E5A42}" type="sibTrans" cxnId="{5ACB4DC4-8A33-47BD-8D1A-60D696C856ED}">
      <dgm:prSet/>
      <dgm:spPr/>
      <dgm:t>
        <a:bodyPr/>
        <a:lstStyle/>
        <a:p>
          <a:endParaRPr lang="en-US"/>
        </a:p>
      </dgm:t>
    </dgm:pt>
    <dgm:pt modelId="{C60A6702-B84C-4BAB-B0F0-82ED27A71C85}">
      <dgm:prSet/>
      <dgm:spPr/>
      <dgm:t>
        <a:bodyPr/>
        <a:lstStyle/>
        <a:p>
          <a:r>
            <a:rPr lang="en-US"/>
            <a:t>BIBLIOTECAS CHAVE:</a:t>
          </a:r>
        </a:p>
      </dgm:t>
    </dgm:pt>
    <dgm:pt modelId="{7ECA7A36-9CC6-43D5-B943-F6918585B1F4}" type="parTrans" cxnId="{2572B5AF-67B1-42F0-B91E-647FDBA02E87}">
      <dgm:prSet/>
      <dgm:spPr/>
      <dgm:t>
        <a:bodyPr/>
        <a:lstStyle/>
        <a:p>
          <a:endParaRPr lang="en-US"/>
        </a:p>
      </dgm:t>
    </dgm:pt>
    <dgm:pt modelId="{6ED619DD-FFB3-414E-8F93-DD4653C6BA6D}" type="sibTrans" cxnId="{2572B5AF-67B1-42F0-B91E-647FDBA02E87}">
      <dgm:prSet/>
      <dgm:spPr/>
      <dgm:t>
        <a:bodyPr/>
        <a:lstStyle/>
        <a:p>
          <a:endParaRPr lang="en-US"/>
        </a:p>
      </dgm:t>
    </dgm:pt>
    <dgm:pt modelId="{D0055C11-4192-436E-B751-62FB49B47254}">
      <dgm:prSet/>
      <dgm:spPr/>
      <dgm:t>
        <a:bodyPr/>
        <a:lstStyle/>
        <a:p>
          <a:r>
            <a:rPr lang="en-US"/>
            <a:t>• Socket (TCP/UDP Standard)</a:t>
          </a:r>
        </a:p>
      </dgm:t>
    </dgm:pt>
    <dgm:pt modelId="{C7189C96-E616-4B2F-B633-51CFEAD7EF6C}" type="parTrans" cxnId="{3F490FBE-B3A3-466B-A301-F79AA890C1BF}">
      <dgm:prSet/>
      <dgm:spPr/>
      <dgm:t>
        <a:bodyPr/>
        <a:lstStyle/>
        <a:p>
          <a:endParaRPr lang="en-US"/>
        </a:p>
      </dgm:t>
    </dgm:pt>
    <dgm:pt modelId="{E0BA2E8F-A97D-4778-8EF4-24CEB8A9BCE1}" type="sibTrans" cxnId="{3F490FBE-B3A3-466B-A301-F79AA890C1BF}">
      <dgm:prSet/>
      <dgm:spPr/>
      <dgm:t>
        <a:bodyPr/>
        <a:lstStyle/>
        <a:p>
          <a:endParaRPr lang="en-US"/>
        </a:p>
      </dgm:t>
    </dgm:pt>
    <dgm:pt modelId="{06C68947-39D2-4595-936C-E51584A5EA57}">
      <dgm:prSet/>
      <dgm:spPr/>
      <dgm:t>
        <a:bodyPr/>
        <a:lstStyle/>
        <a:p>
          <a:r>
            <a:rPr lang="en-US"/>
            <a:t>• Scapy (Packet Crafting)</a:t>
          </a:r>
        </a:p>
      </dgm:t>
    </dgm:pt>
    <dgm:pt modelId="{5EA7AA1C-F5B9-4F99-8838-242B9E77F588}" type="parTrans" cxnId="{D711265A-2D7F-4C0F-AE11-60BA672F7B4F}">
      <dgm:prSet/>
      <dgm:spPr/>
      <dgm:t>
        <a:bodyPr/>
        <a:lstStyle/>
        <a:p>
          <a:endParaRPr lang="en-US"/>
        </a:p>
      </dgm:t>
    </dgm:pt>
    <dgm:pt modelId="{91AFBA83-4E2C-48D7-83E1-C41312768754}" type="sibTrans" cxnId="{D711265A-2D7F-4C0F-AE11-60BA672F7B4F}">
      <dgm:prSet/>
      <dgm:spPr/>
      <dgm:t>
        <a:bodyPr/>
        <a:lstStyle/>
        <a:p>
          <a:endParaRPr lang="en-US"/>
        </a:p>
      </dgm:t>
    </dgm:pt>
    <dgm:pt modelId="{9AF3D64B-3A1E-4FA8-A09D-4143F3A4C1C2}">
      <dgm:prSet/>
      <dgm:spPr/>
      <dgm:t>
        <a:bodyPr/>
        <a:lstStyle/>
        <a:p>
          <a:r>
            <a:rPr lang="en-US"/>
            <a:t>• Threading (Concorrência)</a:t>
          </a:r>
        </a:p>
      </dgm:t>
    </dgm:pt>
    <dgm:pt modelId="{F571601F-8DAD-4D48-8BDF-91E55FFA9ED4}" type="parTrans" cxnId="{7D1789A6-FD80-45F9-AF3E-D0947DB5BD26}">
      <dgm:prSet/>
      <dgm:spPr/>
      <dgm:t>
        <a:bodyPr/>
        <a:lstStyle/>
        <a:p>
          <a:endParaRPr lang="en-US"/>
        </a:p>
      </dgm:t>
    </dgm:pt>
    <dgm:pt modelId="{99FDB084-0BA0-4235-B232-11A9B07601F3}" type="sibTrans" cxnId="{7D1789A6-FD80-45F9-AF3E-D0947DB5BD26}">
      <dgm:prSet/>
      <dgm:spPr/>
      <dgm:t>
        <a:bodyPr/>
        <a:lstStyle/>
        <a:p>
          <a:endParaRPr lang="en-US"/>
        </a:p>
      </dgm:t>
    </dgm:pt>
    <dgm:pt modelId="{350F5130-5632-4ED8-BFD0-E10046D3DC78}" type="pres">
      <dgm:prSet presAssocID="{C1DCF019-E7DA-41C5-A9C6-46E4818DE8B4}" presName="linear" presStyleCnt="0">
        <dgm:presLayoutVars>
          <dgm:animLvl val="lvl"/>
          <dgm:resizeHandles val="exact"/>
        </dgm:presLayoutVars>
      </dgm:prSet>
      <dgm:spPr/>
    </dgm:pt>
    <dgm:pt modelId="{DB790138-2B9D-4BF6-8611-BDB348DBC7AA}" type="pres">
      <dgm:prSet presAssocID="{9D972203-D8DE-47CF-8ECC-EA5930E3B6BC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53F52C27-8F56-402A-AEF9-0BAE34AFEED3}" type="pres">
      <dgm:prSet presAssocID="{B80DE8DF-1EAF-4BC8-BB5B-8EDF9D09B184}" presName="spacer" presStyleCnt="0"/>
      <dgm:spPr/>
    </dgm:pt>
    <dgm:pt modelId="{DA719590-4012-4143-94F4-46E79D35C92D}" type="pres">
      <dgm:prSet presAssocID="{0BED1C96-CB09-4017-98B9-05884326FACD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AFE8E83-3151-40B3-876D-325EF73FA2EA}" type="pres">
      <dgm:prSet presAssocID="{CC8362F6-1CF4-4164-ADDB-220ECB583783}" presName="spacer" presStyleCnt="0"/>
      <dgm:spPr/>
    </dgm:pt>
    <dgm:pt modelId="{9700FCE4-252E-42B2-8A4C-26BC6FF19673}" type="pres">
      <dgm:prSet presAssocID="{7C30C2CA-C04A-4B0B-9C79-D3F88E4D5DC6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18E9A38-8AFA-4959-BD18-4C00BB355BE9}" type="pres">
      <dgm:prSet presAssocID="{E5A0F207-B090-48E8-B80B-581AE8F73FC9}" presName="spacer" presStyleCnt="0"/>
      <dgm:spPr/>
    </dgm:pt>
    <dgm:pt modelId="{E5AC9230-7219-471F-B640-6C8509C9D3D0}" type="pres">
      <dgm:prSet presAssocID="{6B9692B2-514C-4024-BD6C-F6236854EE0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DC123ED6-2AC5-407A-BAB9-AAB605B1938A}" type="pres">
      <dgm:prSet presAssocID="{89876195-AADA-401B-A7F0-A623522E5A42}" presName="spacer" presStyleCnt="0"/>
      <dgm:spPr/>
    </dgm:pt>
    <dgm:pt modelId="{A5CF0FA3-9672-476B-BEA6-F23035784CF9}" type="pres">
      <dgm:prSet presAssocID="{C60A6702-B84C-4BAB-B0F0-82ED27A71C85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818814C-748A-482F-A027-ABE7820A6A17}" type="pres">
      <dgm:prSet presAssocID="{6ED619DD-FFB3-414E-8F93-DD4653C6BA6D}" presName="spacer" presStyleCnt="0"/>
      <dgm:spPr/>
    </dgm:pt>
    <dgm:pt modelId="{01ADDB07-F702-41E9-A760-AC2015E886AA}" type="pres">
      <dgm:prSet presAssocID="{D0055C11-4192-436E-B751-62FB49B4725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5B8960D-6EF6-4E22-BF7E-CF8D9AEBC48C}" type="pres">
      <dgm:prSet presAssocID="{E0BA2E8F-A97D-4778-8EF4-24CEB8A9BCE1}" presName="spacer" presStyleCnt="0"/>
      <dgm:spPr/>
    </dgm:pt>
    <dgm:pt modelId="{B55E1F08-058B-407E-B173-CC1F9D546C5F}" type="pres">
      <dgm:prSet presAssocID="{06C68947-39D2-4595-936C-E51584A5EA57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5B18EAD2-6B07-4F61-A5E8-7E748983A953}" type="pres">
      <dgm:prSet presAssocID="{91AFBA83-4E2C-48D7-83E1-C41312768754}" presName="spacer" presStyleCnt="0"/>
      <dgm:spPr/>
    </dgm:pt>
    <dgm:pt modelId="{DF0D3333-BA6E-4298-B010-CD7E865FFFBF}" type="pres">
      <dgm:prSet presAssocID="{9AF3D64B-3A1E-4FA8-A09D-4143F3A4C1C2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BCFFCD10-772D-47E3-B79D-F244DC414C82}" type="presOf" srcId="{D0055C11-4192-436E-B751-62FB49B47254}" destId="{01ADDB07-F702-41E9-A760-AC2015E886AA}" srcOrd="0" destOrd="0" presId="urn:microsoft.com/office/officeart/2005/8/layout/vList2"/>
    <dgm:cxn modelId="{0E8C9D16-0146-423F-8FA2-C4648EDF6E54}" type="presOf" srcId="{7C30C2CA-C04A-4B0B-9C79-D3F88E4D5DC6}" destId="{9700FCE4-252E-42B2-8A4C-26BC6FF19673}" srcOrd="0" destOrd="0" presId="urn:microsoft.com/office/officeart/2005/8/layout/vList2"/>
    <dgm:cxn modelId="{B3057A32-3B96-4675-863F-45A31FE6931A}" type="presOf" srcId="{C60A6702-B84C-4BAB-B0F0-82ED27A71C85}" destId="{A5CF0FA3-9672-476B-BEA6-F23035784CF9}" srcOrd="0" destOrd="0" presId="urn:microsoft.com/office/officeart/2005/8/layout/vList2"/>
    <dgm:cxn modelId="{68F7385B-133C-497D-81D3-C89ECA6E6427}" srcId="{C1DCF019-E7DA-41C5-A9C6-46E4818DE8B4}" destId="{7C30C2CA-C04A-4B0B-9C79-D3F88E4D5DC6}" srcOrd="2" destOrd="0" parTransId="{56627D2E-174E-48C1-A972-37656E54CC2B}" sibTransId="{E5A0F207-B090-48E8-B80B-581AE8F73FC9}"/>
    <dgm:cxn modelId="{3FCD7A43-C40E-452F-818A-2CF728872C1A}" type="presOf" srcId="{6B9692B2-514C-4024-BD6C-F6236854EE05}" destId="{E5AC9230-7219-471F-B640-6C8509C9D3D0}" srcOrd="0" destOrd="0" presId="urn:microsoft.com/office/officeart/2005/8/layout/vList2"/>
    <dgm:cxn modelId="{BC06384D-1DA4-4D29-B085-B5E964680DF3}" srcId="{C1DCF019-E7DA-41C5-A9C6-46E4818DE8B4}" destId="{0BED1C96-CB09-4017-98B9-05884326FACD}" srcOrd="1" destOrd="0" parTransId="{6A5D1501-CC03-4488-AC48-215E3E7BAE73}" sibTransId="{CC8362F6-1CF4-4164-ADDB-220ECB583783}"/>
    <dgm:cxn modelId="{D711265A-2D7F-4C0F-AE11-60BA672F7B4F}" srcId="{C1DCF019-E7DA-41C5-A9C6-46E4818DE8B4}" destId="{06C68947-39D2-4595-936C-E51584A5EA57}" srcOrd="6" destOrd="0" parTransId="{5EA7AA1C-F5B9-4F99-8838-242B9E77F588}" sibTransId="{91AFBA83-4E2C-48D7-83E1-C41312768754}"/>
    <dgm:cxn modelId="{AE4B547F-433E-4FD4-9758-7B8414E088E0}" srcId="{C1DCF019-E7DA-41C5-A9C6-46E4818DE8B4}" destId="{9D972203-D8DE-47CF-8ECC-EA5930E3B6BC}" srcOrd="0" destOrd="0" parTransId="{6D0144B1-667C-4790-BCA3-1FF58C6DF684}" sibTransId="{B80DE8DF-1EAF-4BC8-BB5B-8EDF9D09B184}"/>
    <dgm:cxn modelId="{FD946B8C-3598-44AF-844A-074A10EFC008}" type="presOf" srcId="{06C68947-39D2-4595-936C-E51584A5EA57}" destId="{B55E1F08-058B-407E-B173-CC1F9D546C5F}" srcOrd="0" destOrd="0" presId="urn:microsoft.com/office/officeart/2005/8/layout/vList2"/>
    <dgm:cxn modelId="{D0A338A3-0F25-40D2-A23B-C3C06BE8F223}" type="presOf" srcId="{0BED1C96-CB09-4017-98B9-05884326FACD}" destId="{DA719590-4012-4143-94F4-46E79D35C92D}" srcOrd="0" destOrd="0" presId="urn:microsoft.com/office/officeart/2005/8/layout/vList2"/>
    <dgm:cxn modelId="{7D1789A6-FD80-45F9-AF3E-D0947DB5BD26}" srcId="{C1DCF019-E7DA-41C5-A9C6-46E4818DE8B4}" destId="{9AF3D64B-3A1E-4FA8-A09D-4143F3A4C1C2}" srcOrd="7" destOrd="0" parTransId="{F571601F-8DAD-4D48-8BDF-91E55FFA9ED4}" sibTransId="{99FDB084-0BA0-4235-B232-11A9B07601F3}"/>
    <dgm:cxn modelId="{2572B5AF-67B1-42F0-B91E-647FDBA02E87}" srcId="{C1DCF019-E7DA-41C5-A9C6-46E4818DE8B4}" destId="{C60A6702-B84C-4BAB-B0F0-82ED27A71C85}" srcOrd="4" destOrd="0" parTransId="{7ECA7A36-9CC6-43D5-B943-F6918585B1F4}" sibTransId="{6ED619DD-FFB3-414E-8F93-DD4653C6BA6D}"/>
    <dgm:cxn modelId="{3F490FBE-B3A3-466B-A301-F79AA890C1BF}" srcId="{C1DCF019-E7DA-41C5-A9C6-46E4818DE8B4}" destId="{D0055C11-4192-436E-B751-62FB49B47254}" srcOrd="5" destOrd="0" parTransId="{C7189C96-E616-4B2F-B633-51CFEAD7EF6C}" sibTransId="{E0BA2E8F-A97D-4778-8EF4-24CEB8A9BCE1}"/>
    <dgm:cxn modelId="{5ACB4DC4-8A33-47BD-8D1A-60D696C856ED}" srcId="{C1DCF019-E7DA-41C5-A9C6-46E4818DE8B4}" destId="{6B9692B2-514C-4024-BD6C-F6236854EE05}" srcOrd="3" destOrd="0" parTransId="{F9BDC0FF-AA72-4220-8C17-0CAB85A7CE49}" sibTransId="{89876195-AADA-401B-A7F0-A623522E5A42}"/>
    <dgm:cxn modelId="{408442CD-BF1D-42F6-A8B4-26EE66497546}" type="presOf" srcId="{C1DCF019-E7DA-41C5-A9C6-46E4818DE8B4}" destId="{350F5130-5632-4ED8-BFD0-E10046D3DC78}" srcOrd="0" destOrd="0" presId="urn:microsoft.com/office/officeart/2005/8/layout/vList2"/>
    <dgm:cxn modelId="{60921FD5-64D7-4FEB-AAA5-3F35695EE8B4}" type="presOf" srcId="{9D972203-D8DE-47CF-8ECC-EA5930E3B6BC}" destId="{DB790138-2B9D-4BF6-8611-BDB348DBC7AA}" srcOrd="0" destOrd="0" presId="urn:microsoft.com/office/officeart/2005/8/layout/vList2"/>
    <dgm:cxn modelId="{B5A383D5-099A-4490-A913-DBF03CB7E5FA}" type="presOf" srcId="{9AF3D64B-3A1E-4FA8-A09D-4143F3A4C1C2}" destId="{DF0D3333-BA6E-4298-B010-CD7E865FFFBF}" srcOrd="0" destOrd="0" presId="urn:microsoft.com/office/officeart/2005/8/layout/vList2"/>
    <dgm:cxn modelId="{C45CB2A7-3E20-4771-919F-1B79F45BC9FC}" type="presParOf" srcId="{350F5130-5632-4ED8-BFD0-E10046D3DC78}" destId="{DB790138-2B9D-4BF6-8611-BDB348DBC7AA}" srcOrd="0" destOrd="0" presId="urn:microsoft.com/office/officeart/2005/8/layout/vList2"/>
    <dgm:cxn modelId="{3A3DFFA4-4AC8-4A33-84C1-652D4EE8F022}" type="presParOf" srcId="{350F5130-5632-4ED8-BFD0-E10046D3DC78}" destId="{53F52C27-8F56-402A-AEF9-0BAE34AFEED3}" srcOrd="1" destOrd="0" presId="urn:microsoft.com/office/officeart/2005/8/layout/vList2"/>
    <dgm:cxn modelId="{9D0D0345-9E1C-4EAC-838C-55301DDA5100}" type="presParOf" srcId="{350F5130-5632-4ED8-BFD0-E10046D3DC78}" destId="{DA719590-4012-4143-94F4-46E79D35C92D}" srcOrd="2" destOrd="0" presId="urn:microsoft.com/office/officeart/2005/8/layout/vList2"/>
    <dgm:cxn modelId="{5421EA41-16E6-45B3-A0F8-21A74AD7C206}" type="presParOf" srcId="{350F5130-5632-4ED8-BFD0-E10046D3DC78}" destId="{7AFE8E83-3151-40B3-876D-325EF73FA2EA}" srcOrd="3" destOrd="0" presId="urn:microsoft.com/office/officeart/2005/8/layout/vList2"/>
    <dgm:cxn modelId="{E6CEC970-CC17-45D4-B2DA-0A567D6E25EC}" type="presParOf" srcId="{350F5130-5632-4ED8-BFD0-E10046D3DC78}" destId="{9700FCE4-252E-42B2-8A4C-26BC6FF19673}" srcOrd="4" destOrd="0" presId="urn:microsoft.com/office/officeart/2005/8/layout/vList2"/>
    <dgm:cxn modelId="{114C715A-F979-40AC-A2CC-4ADE69BE272F}" type="presParOf" srcId="{350F5130-5632-4ED8-BFD0-E10046D3DC78}" destId="{118E9A38-8AFA-4959-BD18-4C00BB355BE9}" srcOrd="5" destOrd="0" presId="urn:microsoft.com/office/officeart/2005/8/layout/vList2"/>
    <dgm:cxn modelId="{26BCD983-3427-434F-ADE6-4A73E62E3641}" type="presParOf" srcId="{350F5130-5632-4ED8-BFD0-E10046D3DC78}" destId="{E5AC9230-7219-471F-B640-6C8509C9D3D0}" srcOrd="6" destOrd="0" presId="urn:microsoft.com/office/officeart/2005/8/layout/vList2"/>
    <dgm:cxn modelId="{F68CAB7A-0EB1-45E0-AAFE-C1540DFB4FA5}" type="presParOf" srcId="{350F5130-5632-4ED8-BFD0-E10046D3DC78}" destId="{DC123ED6-2AC5-407A-BAB9-AAB605B1938A}" srcOrd="7" destOrd="0" presId="urn:microsoft.com/office/officeart/2005/8/layout/vList2"/>
    <dgm:cxn modelId="{3CCED2EC-78A1-4A06-9293-CC9F17D737FD}" type="presParOf" srcId="{350F5130-5632-4ED8-BFD0-E10046D3DC78}" destId="{A5CF0FA3-9672-476B-BEA6-F23035784CF9}" srcOrd="8" destOrd="0" presId="urn:microsoft.com/office/officeart/2005/8/layout/vList2"/>
    <dgm:cxn modelId="{7C6D4A43-AF41-48AE-9C27-B66683A4450C}" type="presParOf" srcId="{350F5130-5632-4ED8-BFD0-E10046D3DC78}" destId="{1818814C-748A-482F-A027-ABE7820A6A17}" srcOrd="9" destOrd="0" presId="urn:microsoft.com/office/officeart/2005/8/layout/vList2"/>
    <dgm:cxn modelId="{A10906D0-E8F2-45F0-A17A-54B5BFEB2EE2}" type="presParOf" srcId="{350F5130-5632-4ED8-BFD0-E10046D3DC78}" destId="{01ADDB07-F702-41E9-A760-AC2015E886AA}" srcOrd="10" destOrd="0" presId="urn:microsoft.com/office/officeart/2005/8/layout/vList2"/>
    <dgm:cxn modelId="{9407C05E-5F20-4DA8-A749-EF91D99EA249}" type="presParOf" srcId="{350F5130-5632-4ED8-BFD0-E10046D3DC78}" destId="{F5B8960D-6EF6-4E22-BF7E-CF8D9AEBC48C}" srcOrd="11" destOrd="0" presId="urn:microsoft.com/office/officeart/2005/8/layout/vList2"/>
    <dgm:cxn modelId="{1BC2448E-CB10-413C-B0BF-E15133EABE43}" type="presParOf" srcId="{350F5130-5632-4ED8-BFD0-E10046D3DC78}" destId="{B55E1F08-058B-407E-B173-CC1F9D546C5F}" srcOrd="12" destOrd="0" presId="urn:microsoft.com/office/officeart/2005/8/layout/vList2"/>
    <dgm:cxn modelId="{12C1DB19-BC1D-45FD-8FD2-57B0F06B72F4}" type="presParOf" srcId="{350F5130-5632-4ED8-BFD0-E10046D3DC78}" destId="{5B18EAD2-6B07-4F61-A5E8-7E748983A953}" srcOrd="13" destOrd="0" presId="urn:microsoft.com/office/officeart/2005/8/layout/vList2"/>
    <dgm:cxn modelId="{76441F95-82DF-442A-B057-EDE67245BA19}" type="presParOf" srcId="{350F5130-5632-4ED8-BFD0-E10046D3DC78}" destId="{DF0D3333-BA6E-4298-B010-CD7E865FFFBF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90138-2B9D-4BF6-8611-BDB348DBC7AA}">
      <dsp:nvSpPr>
        <dsp:cNvPr id="0" name=""/>
        <dsp:cNvSpPr/>
      </dsp:nvSpPr>
      <dsp:spPr>
        <a:xfrm>
          <a:off x="0" y="3656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ESTRUTURA MODULAR:</a:t>
          </a:r>
        </a:p>
      </dsp:txBody>
      <dsp:txXfrm>
        <a:off x="24588" y="61149"/>
        <a:ext cx="8180424" cy="454509"/>
      </dsp:txXfrm>
    </dsp:sp>
    <dsp:sp modelId="{DA719590-4012-4143-94F4-46E79D35C92D}">
      <dsp:nvSpPr>
        <dsp:cNvPr id="0" name=""/>
        <dsp:cNvSpPr/>
      </dsp:nvSpPr>
      <dsp:spPr>
        <a:xfrm>
          <a:off x="0" y="60072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1. Rede (Ofensiva): Port Scanner, DoS (SYN/UDP).</a:t>
          </a:r>
        </a:p>
      </dsp:txBody>
      <dsp:txXfrm>
        <a:off x="24588" y="625314"/>
        <a:ext cx="8180424" cy="454509"/>
      </dsp:txXfrm>
    </dsp:sp>
    <dsp:sp modelId="{9700FCE4-252E-42B2-8A4C-26BC6FF19673}">
      <dsp:nvSpPr>
        <dsp:cNvPr id="0" name=""/>
        <dsp:cNvSpPr/>
      </dsp:nvSpPr>
      <dsp:spPr>
        <a:xfrm>
          <a:off x="0" y="116489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 Defesa (Ocultação): Port Knocking.</a:t>
          </a:r>
        </a:p>
      </dsp:txBody>
      <dsp:txXfrm>
        <a:off x="24588" y="1189479"/>
        <a:ext cx="8180424" cy="454509"/>
      </dsp:txXfrm>
    </dsp:sp>
    <dsp:sp modelId="{E5AC9230-7219-471F-B640-6C8509C9D3D0}">
      <dsp:nvSpPr>
        <dsp:cNvPr id="0" name=""/>
        <dsp:cNvSpPr/>
      </dsp:nvSpPr>
      <dsp:spPr>
        <a:xfrm>
          <a:off x="0" y="172905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3. Segurança (Dados): Password Manager, Chat P2P.</a:t>
          </a:r>
        </a:p>
      </dsp:txBody>
      <dsp:txXfrm>
        <a:off x="24588" y="1753644"/>
        <a:ext cx="8180424" cy="454509"/>
      </dsp:txXfrm>
    </dsp:sp>
    <dsp:sp modelId="{A5CF0FA3-9672-476B-BEA6-F23035784CF9}">
      <dsp:nvSpPr>
        <dsp:cNvPr id="0" name=""/>
        <dsp:cNvSpPr/>
      </dsp:nvSpPr>
      <dsp:spPr>
        <a:xfrm>
          <a:off x="0" y="229322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BIBLIOTECAS CHAVE:</a:t>
          </a:r>
        </a:p>
      </dsp:txBody>
      <dsp:txXfrm>
        <a:off x="24588" y="2317809"/>
        <a:ext cx="8180424" cy="454509"/>
      </dsp:txXfrm>
    </dsp:sp>
    <dsp:sp modelId="{01ADDB07-F702-41E9-A760-AC2015E886AA}">
      <dsp:nvSpPr>
        <dsp:cNvPr id="0" name=""/>
        <dsp:cNvSpPr/>
      </dsp:nvSpPr>
      <dsp:spPr>
        <a:xfrm>
          <a:off x="0" y="285738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Socket (TCP/UDP Standard)</a:t>
          </a:r>
        </a:p>
      </dsp:txBody>
      <dsp:txXfrm>
        <a:off x="24588" y="2881974"/>
        <a:ext cx="8180424" cy="454509"/>
      </dsp:txXfrm>
    </dsp:sp>
    <dsp:sp modelId="{B55E1F08-058B-407E-B173-CC1F9D546C5F}">
      <dsp:nvSpPr>
        <dsp:cNvPr id="0" name=""/>
        <dsp:cNvSpPr/>
      </dsp:nvSpPr>
      <dsp:spPr>
        <a:xfrm>
          <a:off x="0" y="342155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Scapy (Packet Crafting)</a:t>
          </a:r>
        </a:p>
      </dsp:txBody>
      <dsp:txXfrm>
        <a:off x="24588" y="3446139"/>
        <a:ext cx="8180424" cy="454509"/>
      </dsp:txXfrm>
    </dsp:sp>
    <dsp:sp modelId="{DF0D3333-BA6E-4298-B010-CD7E865FFFBF}">
      <dsp:nvSpPr>
        <dsp:cNvPr id="0" name=""/>
        <dsp:cNvSpPr/>
      </dsp:nvSpPr>
      <dsp:spPr>
        <a:xfrm>
          <a:off x="0" y="398571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Threading (Concorrência)</a:t>
          </a:r>
        </a:p>
      </dsp:txBody>
      <dsp:txXfrm>
        <a:off x="24588" y="4010304"/>
        <a:ext cx="8180424" cy="454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990" y="1889286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rPr lang="en-GB" dirty="0"/>
              <a:t>PROJETO PRATICO</a:t>
            </a:r>
            <a:br>
              <a:rPr lang="en-GB" dirty="0">
                <a:ea typeface="Calibri"/>
                <a:cs typeface="Calibri"/>
              </a:rPr>
            </a:br>
            <a:endParaRPr lang="en-GB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4790" y="4754301"/>
            <a:ext cx="64008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>
                <a:solidFill>
                  <a:srgbClr val="E6E6E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dirty="0"/>
              <a:t>Rafael Conceição Narciso (24473)</a:t>
            </a:r>
            <a:endParaRPr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dirty="0"/>
              <a:t>Janeiro 2026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FFFF"/>
                </a:solidFill>
              </a:defRPr>
            </a:pPr>
            <a:r>
              <a:t>Introdução e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149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>
                <a:solidFill>
                  <a:srgbClr val="E6E6E6"/>
                </a:solidFill>
              </a:defRPr>
            </a:pPr>
            <a:r>
              <a:rPr dirty="0"/>
              <a:t>OBJETIVO:</a:t>
            </a:r>
          </a:p>
          <a:p>
            <a:pPr>
              <a:defRPr>
                <a:solidFill>
                  <a:srgbClr val="E6E6E6"/>
                </a:solidFill>
              </a:defRPr>
            </a:pP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suite modular </a:t>
            </a:r>
            <a:r>
              <a:rPr lang="en-GB" dirty="0"/>
              <a:t>para-auditoria</a:t>
            </a:r>
            <a:r>
              <a:rPr dirty="0"/>
              <a:t> de </a:t>
            </a:r>
            <a:r>
              <a:rPr dirty="0" err="1"/>
              <a:t>segurança</a:t>
            </a:r>
            <a:r>
              <a:rPr dirty="0"/>
              <a:t> (Red/Blue Teaming).</a:t>
            </a:r>
            <a:endParaRPr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dirty="0"/>
              <a:t>CENÁRIO:</a:t>
            </a:r>
            <a:endParaRPr dirty="0">
              <a:ea typeface="Calibri"/>
              <a:cs typeface="Calibri"/>
            </a:endParaRPr>
          </a:p>
          <a:p>
            <a:pPr marL="0" indent="0">
              <a:buNone/>
              <a:defRPr>
                <a:solidFill>
                  <a:srgbClr val="E6E6E6"/>
                </a:solidFill>
              </a:defRPr>
            </a:pPr>
            <a:r>
              <a:rPr err="1"/>
              <a:t>Atacante</a:t>
            </a:r>
            <a:r>
              <a:rPr dirty="0"/>
              <a:t> (Windows) vs Alvo (Kali Linux).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66461"/>
            <a:ext cx="9144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58" y="649899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Rafael Narciso | PySecurity Toolkit | Mestrado 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62"/>
            <a:ext cx="8229600" cy="1143000"/>
          </a:xfrm>
        </p:spPr>
        <p:txBody>
          <a:bodyPr/>
          <a:lstStyle/>
          <a:p>
            <a:pPr algn="l">
              <a:defRPr sz="3200" b="1">
                <a:solidFill>
                  <a:srgbClr val="00FFFF"/>
                </a:solidFill>
              </a:defRPr>
            </a:pPr>
            <a:r>
              <a:t>Arquitetura do Sistema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CC5177D-CE08-4D30-BA71-E93514DFF3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69694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30436"/>
            <a:ext cx="9144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58" y="663403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Rafael Narciso | PySecurity Toolkit | Mestrado ESI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FFFF"/>
                </a:solidFill>
              </a:defRPr>
            </a:pPr>
            <a:r>
              <a:t>Reconhecimento: Port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TÉCNICA: TCP Connect Scan</a:t>
            </a:r>
            <a:endParaRPr lang="en-US"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MECANISMO (Three-Way Handshake):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1. SYN (</a:t>
            </a:r>
            <a:r>
              <a:rPr sz="2000" dirty="0" err="1"/>
              <a:t>Pedido</a:t>
            </a:r>
            <a:r>
              <a:rPr sz="2000" dirty="0"/>
              <a:t> do </a:t>
            </a:r>
            <a:r>
              <a:rPr sz="2000" dirty="0" err="1"/>
              <a:t>Cliente</a:t>
            </a:r>
            <a:r>
              <a:rPr sz="2000" dirty="0"/>
              <a:t>)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2. SYN-ACK (</a:t>
            </a:r>
            <a:r>
              <a:rPr sz="2000" dirty="0" err="1"/>
              <a:t>Servidor</a:t>
            </a:r>
            <a:r>
              <a:rPr sz="2000" dirty="0"/>
              <a:t> </a:t>
            </a:r>
            <a:r>
              <a:rPr sz="2000" dirty="0" err="1"/>
              <a:t>Aceita</a:t>
            </a:r>
            <a:r>
              <a:rPr sz="2000" dirty="0"/>
              <a:t> = Porta Aberta)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3. ACK (</a:t>
            </a:r>
            <a:r>
              <a:rPr sz="2000" err="1"/>
              <a:t>Conexão</a:t>
            </a:r>
            <a:r>
              <a:rPr sz="2000" dirty="0"/>
              <a:t> </a:t>
            </a:r>
            <a:r>
              <a:rPr sz="2000" err="1"/>
              <a:t>Estabelecida</a:t>
            </a:r>
            <a:r>
              <a:rPr sz="2000" dirty="0"/>
              <a:t>)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RESULTADO: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err="1"/>
              <a:t>Mapeamento</a:t>
            </a:r>
            <a:r>
              <a:rPr sz="2000" dirty="0"/>
              <a:t> de </a:t>
            </a:r>
            <a:r>
              <a:rPr sz="2000" err="1"/>
              <a:t>serviços</a:t>
            </a:r>
            <a:r>
              <a:rPr sz="2000" dirty="0"/>
              <a:t> </a:t>
            </a:r>
            <a:r>
              <a:rPr sz="2000" err="1"/>
              <a:t>sem</a:t>
            </a:r>
            <a:r>
              <a:rPr sz="2000" dirty="0"/>
              <a:t> </a:t>
            </a:r>
            <a:r>
              <a:rPr sz="2000" err="1"/>
              <a:t>necessidade</a:t>
            </a:r>
            <a:r>
              <a:rPr sz="2000" dirty="0"/>
              <a:t> de </a:t>
            </a:r>
            <a:r>
              <a:rPr sz="2000" err="1"/>
              <a:t>privilégios</a:t>
            </a:r>
            <a:r>
              <a:rPr sz="2000" dirty="0"/>
              <a:t> root.</a:t>
            </a:r>
            <a:endParaRPr sz="2000"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Rafael Narciso | PySecurity Toolkit | Mestrado ESI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FFFF"/>
                </a:solidFill>
              </a:defRPr>
            </a:pPr>
            <a:r>
              <a:t>Ataques DoS (Negação de Serviço)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SYN FLOOD (CAMADA 4):</a:t>
            </a:r>
            <a:endParaRPr lang="en-US"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• Alvo: </a:t>
            </a:r>
            <a:r>
              <a:rPr sz="2000" err="1"/>
              <a:t>Esgotar</a:t>
            </a:r>
            <a:r>
              <a:rPr sz="2000" dirty="0"/>
              <a:t> a </a:t>
            </a:r>
            <a:r>
              <a:rPr sz="2000" err="1"/>
              <a:t>Memória</a:t>
            </a:r>
            <a:r>
              <a:rPr sz="2000" dirty="0"/>
              <a:t> RAM (Backlog Queue).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• Técnica: </a:t>
            </a:r>
            <a:r>
              <a:rPr sz="2000" err="1"/>
              <a:t>Envio</a:t>
            </a:r>
            <a:r>
              <a:rPr sz="2000" dirty="0"/>
              <a:t> de SYN </a:t>
            </a:r>
            <a:r>
              <a:rPr sz="2000" err="1"/>
              <a:t>massivo</a:t>
            </a:r>
            <a:r>
              <a:rPr sz="2000" dirty="0"/>
              <a:t> </a:t>
            </a:r>
            <a:r>
              <a:rPr sz="2000" err="1"/>
              <a:t>sem</a:t>
            </a:r>
            <a:r>
              <a:rPr sz="2000" dirty="0"/>
              <a:t> o ACK final.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• IP Spoofing: </a:t>
            </a:r>
            <a:r>
              <a:rPr sz="2000" err="1"/>
              <a:t>Oculta</a:t>
            </a:r>
            <a:r>
              <a:rPr sz="2000" dirty="0"/>
              <a:t> a </a:t>
            </a:r>
            <a:r>
              <a:rPr sz="2000" err="1"/>
              <a:t>origem</a:t>
            </a:r>
            <a:r>
              <a:rPr sz="2000" dirty="0"/>
              <a:t> e </a:t>
            </a:r>
            <a:r>
              <a:rPr sz="2000" err="1"/>
              <a:t>evita</a:t>
            </a:r>
            <a:r>
              <a:rPr sz="2000" dirty="0"/>
              <a:t> o Reset.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UDP FLOOD: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• Alvo: CPU e </a:t>
            </a:r>
            <a:r>
              <a:rPr sz="2000" err="1"/>
              <a:t>Largura</a:t>
            </a:r>
            <a:r>
              <a:rPr sz="2000" dirty="0"/>
              <a:t> de Banda.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• Técnica: </a:t>
            </a:r>
            <a:r>
              <a:rPr sz="2000" err="1"/>
              <a:t>Envio</a:t>
            </a:r>
            <a:r>
              <a:rPr sz="2000" dirty="0"/>
              <a:t> de dados </a:t>
            </a:r>
            <a:r>
              <a:rPr sz="2000" err="1"/>
              <a:t>aleatórios</a:t>
            </a:r>
            <a:r>
              <a:rPr sz="2000" dirty="0"/>
              <a:t> -&gt; </a:t>
            </a:r>
            <a:r>
              <a:rPr sz="2000" err="1"/>
              <a:t>Força</a:t>
            </a:r>
            <a:r>
              <a:rPr sz="2000" dirty="0"/>
              <a:t> </a:t>
            </a:r>
            <a:r>
              <a:rPr sz="2000" err="1"/>
              <a:t>erro</a:t>
            </a:r>
            <a:r>
              <a:rPr sz="2000" dirty="0"/>
              <a:t> ICMP.</a:t>
            </a:r>
            <a:endParaRPr sz="2000"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Rafael Narciso | PySecurity Toolkit | Mestrado ESI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FFFF"/>
                </a:solidFill>
              </a:defRPr>
            </a:pPr>
            <a:r>
              <a:t>Defesa Ativa: Port Knocking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CONCEITO: </a:t>
            </a:r>
            <a:r>
              <a:rPr sz="2000" dirty="0" err="1"/>
              <a:t>Segurança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Obscuridade</a:t>
            </a:r>
            <a:endParaRPr lang="en-US" sz="2000" dirty="0" err="1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FUNCIONAMENTO: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1. Firewall: </a:t>
            </a:r>
            <a:r>
              <a:rPr sz="2000" err="1"/>
              <a:t>Bloqueia</a:t>
            </a:r>
            <a:r>
              <a:rPr sz="2000" dirty="0"/>
              <a:t> TUDO (Policy: DROP).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2. </a:t>
            </a:r>
            <a:r>
              <a:rPr sz="2000" err="1"/>
              <a:t>Cliente</a:t>
            </a:r>
            <a:r>
              <a:rPr sz="2000" dirty="0"/>
              <a:t>: Envia 'batida' secreta (Seq: 7000-&gt;8000-&gt;9000).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3. </a:t>
            </a:r>
            <a:r>
              <a:rPr sz="2000" err="1"/>
              <a:t>Servidor</a:t>
            </a:r>
            <a:r>
              <a:rPr sz="2000" dirty="0"/>
              <a:t>: </a:t>
            </a:r>
            <a:r>
              <a:rPr sz="2000" err="1"/>
              <a:t>Deteta</a:t>
            </a:r>
            <a:r>
              <a:rPr sz="2000" dirty="0"/>
              <a:t> a </a:t>
            </a:r>
            <a:r>
              <a:rPr sz="2000" err="1"/>
              <a:t>assinatura</a:t>
            </a:r>
            <a:r>
              <a:rPr sz="2000" dirty="0"/>
              <a:t> </a:t>
            </a:r>
            <a:r>
              <a:rPr sz="2000" err="1"/>
              <a:t>nos</a:t>
            </a:r>
            <a:r>
              <a:rPr sz="2000" dirty="0"/>
              <a:t> logs e </a:t>
            </a:r>
            <a:r>
              <a:rPr sz="2000" err="1"/>
              <a:t>abre</a:t>
            </a:r>
            <a:r>
              <a:rPr sz="2000" dirty="0"/>
              <a:t> a porta 22.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VANTAGEM: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Serviços </a:t>
            </a:r>
            <a:r>
              <a:rPr sz="2000" err="1"/>
              <a:t>invisíveis</a:t>
            </a:r>
            <a:r>
              <a:rPr sz="2000" dirty="0"/>
              <a:t> para port scanners.</a:t>
            </a:r>
            <a:endParaRPr sz="2000"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Rafael Narciso | PySecurity Toolkit | Mestrado ESI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FFFF"/>
                </a:solidFill>
              </a:defRPr>
            </a:pPr>
            <a:r>
              <a:t>Criptografia e Identidade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>
                <a:solidFill>
                  <a:srgbClr val="E6E6E6"/>
                </a:solidFill>
              </a:defRPr>
            </a:pPr>
            <a:r>
              <a:rPr sz="2400" dirty="0"/>
              <a:t>PASSWORD MANAGER:</a:t>
            </a:r>
            <a:endParaRPr lang="en-US" sz="24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400" dirty="0"/>
              <a:t>• </a:t>
            </a:r>
            <a:r>
              <a:rPr sz="2400" err="1"/>
              <a:t>Algoritmo</a:t>
            </a:r>
            <a:r>
              <a:rPr sz="2400" dirty="0"/>
              <a:t>: Fernet (AES-128-CBC).</a:t>
            </a:r>
            <a:endParaRPr sz="24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400" dirty="0"/>
              <a:t>• </a:t>
            </a:r>
            <a:r>
              <a:rPr sz="2400" err="1"/>
              <a:t>Integridade</a:t>
            </a:r>
            <a:r>
              <a:rPr sz="2400" dirty="0"/>
              <a:t>: </a:t>
            </a:r>
            <a:r>
              <a:rPr sz="2400" err="1"/>
              <a:t>Assinatura</a:t>
            </a:r>
            <a:r>
              <a:rPr sz="2400" dirty="0"/>
              <a:t> HMAC-SHA256.</a:t>
            </a:r>
            <a:endParaRPr sz="24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 sz="24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400" dirty="0"/>
              <a:t>AUTENTICAÇÃO 2FA (TOTP):</a:t>
            </a:r>
            <a:endParaRPr sz="24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400" dirty="0"/>
              <a:t>• Norma RFC 6238.</a:t>
            </a:r>
            <a:endParaRPr sz="24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400" dirty="0"/>
              <a:t>• Código </a:t>
            </a:r>
            <a:r>
              <a:rPr sz="2400" err="1"/>
              <a:t>gerado</a:t>
            </a:r>
            <a:r>
              <a:rPr sz="2400" dirty="0"/>
              <a:t> </a:t>
            </a:r>
            <a:r>
              <a:rPr sz="2400" err="1"/>
              <a:t>matematicamente</a:t>
            </a:r>
            <a:r>
              <a:rPr sz="2400" dirty="0"/>
              <a:t> com base no Tempo Unix.</a:t>
            </a:r>
            <a:endParaRPr sz="24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400" dirty="0"/>
              <a:t>• </a:t>
            </a:r>
            <a:r>
              <a:rPr sz="2400" err="1"/>
              <a:t>Compatível</a:t>
            </a:r>
            <a:r>
              <a:rPr sz="2400" dirty="0"/>
              <a:t> com Google Authenticator.</a:t>
            </a:r>
            <a:endParaRPr sz="2400"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69019"/>
            <a:ext cx="9144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58" y="661473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Rafael Narciso | PySecurity Toolkit | Mestrado ESI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FFFF"/>
                </a:solidFill>
              </a:defRPr>
            </a:pPr>
            <a:r>
              <a:t>Chat P2P Seguro (Desafio Técnico)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O DESAFIO: </a:t>
            </a:r>
            <a:r>
              <a:rPr sz="2000" err="1"/>
              <a:t>Bloqueio</a:t>
            </a:r>
            <a:r>
              <a:rPr sz="2000" dirty="0"/>
              <a:t> de I/O (</a:t>
            </a:r>
            <a:r>
              <a:rPr sz="2000" err="1"/>
              <a:t>socket.recv</a:t>
            </a:r>
            <a:r>
              <a:rPr sz="2000" dirty="0"/>
              <a:t>)</a:t>
            </a:r>
            <a:endParaRPr lang="en-US" sz="200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• O </a:t>
            </a:r>
            <a:r>
              <a:rPr sz="2000" err="1"/>
              <a:t>programa</a:t>
            </a:r>
            <a:r>
              <a:rPr sz="2000" dirty="0"/>
              <a:t> '</a:t>
            </a:r>
            <a:r>
              <a:rPr sz="2000" err="1"/>
              <a:t>congela</a:t>
            </a:r>
            <a:r>
              <a:rPr sz="2000" dirty="0"/>
              <a:t>' à </a:t>
            </a:r>
            <a:r>
              <a:rPr sz="2000" err="1"/>
              <a:t>espera</a:t>
            </a:r>
            <a:r>
              <a:rPr sz="2000" dirty="0"/>
              <a:t> de </a:t>
            </a:r>
            <a:r>
              <a:rPr sz="2000" err="1"/>
              <a:t>mensagens</a:t>
            </a:r>
            <a:r>
              <a:rPr sz="2000" dirty="0"/>
              <a:t>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A SOLUÇÃO: Multithreading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• Thread 1 (Main): Lê input, </a:t>
            </a:r>
            <a:r>
              <a:rPr sz="2000" dirty="0" err="1"/>
              <a:t>Encripta</a:t>
            </a:r>
            <a:r>
              <a:rPr sz="2000" dirty="0"/>
              <a:t> (AES) e Envia.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• Thread 2 (Daemon): </a:t>
            </a:r>
            <a:r>
              <a:rPr sz="2000" err="1"/>
              <a:t>Escuta</a:t>
            </a:r>
            <a:r>
              <a:rPr sz="2000" dirty="0"/>
              <a:t>, </a:t>
            </a:r>
            <a:r>
              <a:rPr sz="2000" err="1"/>
              <a:t>Recebe</a:t>
            </a:r>
            <a:r>
              <a:rPr sz="2000" dirty="0"/>
              <a:t> e </a:t>
            </a:r>
            <a:r>
              <a:rPr sz="2000" err="1"/>
              <a:t>Desencripta</a:t>
            </a:r>
            <a:r>
              <a:rPr sz="2000" dirty="0"/>
              <a:t>.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dirty="0"/>
              <a:t>RESULTADO:</a:t>
            </a:r>
            <a:endParaRPr sz="2000" dirty="0">
              <a:ea typeface="Calibri"/>
              <a:cs typeface="Calibri"/>
            </a:endParaRPr>
          </a:p>
          <a:p>
            <a:pPr>
              <a:defRPr>
                <a:solidFill>
                  <a:srgbClr val="E6E6E6"/>
                </a:solidFill>
              </a:defRPr>
            </a:pPr>
            <a:r>
              <a:rPr sz="2000" err="1"/>
              <a:t>Comunicação</a:t>
            </a:r>
            <a:r>
              <a:rPr sz="2000" dirty="0"/>
              <a:t> Full-Duplex </a:t>
            </a:r>
            <a:r>
              <a:rPr sz="2000" err="1"/>
              <a:t>encriptada</a:t>
            </a:r>
            <a:r>
              <a:rPr sz="2000" dirty="0"/>
              <a:t> </a:t>
            </a:r>
            <a:r>
              <a:rPr sz="2000" err="1"/>
              <a:t>em</a:t>
            </a:r>
            <a:r>
              <a:rPr sz="2000" dirty="0"/>
              <a:t> tempo real.</a:t>
            </a:r>
            <a:endParaRPr sz="2000" dirty="0"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Rafael Narciso | PySecurity Toolkit | Mestrado ESI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0916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00FFFF"/>
                </a:solidFill>
              </a:defRPr>
            </a:pPr>
            <a:r>
              <a:rPr lang="en-US" dirty="0"/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0436"/>
            <a:ext cx="91440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58" y="663403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Rafael Narciso | PySecurity Toolkit | Mestrado 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PROJETO PRATICO </vt:lpstr>
      <vt:lpstr>Introdução e Objetivos</vt:lpstr>
      <vt:lpstr>Arquitetura do Sistema</vt:lpstr>
      <vt:lpstr>Reconhecimento: Port Scanning</vt:lpstr>
      <vt:lpstr>Ataques DoS (Negação de Serviço)</vt:lpstr>
      <vt:lpstr>Defesa Ativa: Port Knocking</vt:lpstr>
      <vt:lpstr>Criptografia e Identidade</vt:lpstr>
      <vt:lpstr>Chat P2P Seguro (Desafio Técnico)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</cp:revision>
  <dcterms:created xsi:type="dcterms:W3CDTF">2013-01-27T09:14:16Z</dcterms:created>
  <dcterms:modified xsi:type="dcterms:W3CDTF">2026-02-10T19:23:28Z</dcterms:modified>
  <cp:category/>
</cp:coreProperties>
</file>